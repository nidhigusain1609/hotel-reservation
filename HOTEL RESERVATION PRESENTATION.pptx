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Override1.xml" ContentType="application/vnd.openxmlformats-officedocument.themeOverride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slideLayouts/slideLayout25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  <p:sldMasterId id="2147483670" r:id="rId2"/>
    <p:sldMasterId id="2147483694" r:id="rId3"/>
  </p:sldMasterIdLst>
  <p:notesMasterIdLst>
    <p:notesMasterId r:id="rId26"/>
  </p:notesMasterIdLst>
  <p:sldIdLst>
    <p:sldId id="256" r:id="rId4"/>
    <p:sldId id="257" r:id="rId5"/>
    <p:sldId id="264" r:id="rId6"/>
    <p:sldId id="276" r:id="rId7"/>
    <p:sldId id="260" r:id="rId8"/>
    <p:sldId id="274" r:id="rId9"/>
    <p:sldId id="275" r:id="rId10"/>
    <p:sldId id="277" r:id="rId11"/>
    <p:sldId id="278" r:id="rId12"/>
    <p:sldId id="279" r:id="rId13"/>
    <p:sldId id="280" r:id="rId14"/>
    <p:sldId id="281" r:id="rId15"/>
    <p:sldId id="282" r:id="rId16"/>
    <p:sldId id="284" r:id="rId17"/>
    <p:sldId id="285" r:id="rId18"/>
    <p:sldId id="286" r:id="rId19"/>
    <p:sldId id="287" r:id="rId20"/>
    <p:sldId id="288" r:id="rId21"/>
    <p:sldId id="289" r:id="rId22"/>
    <p:sldId id="291" r:id="rId23"/>
    <p:sldId id="292" r:id="rId24"/>
    <p:sldId id="290" r:id="rId25"/>
  </p:sldIdLst>
  <p:sldSz cx="9144000" cy="5143500" type="screen16x9"/>
  <p:notesSz cx="6858000" cy="9144000"/>
  <p:embeddedFontLst>
    <p:embeddedFont>
      <p:font typeface="Calibri" pitchFamily="34" charset="0"/>
      <p:regular r:id="rId27"/>
      <p:bold r:id="rId28"/>
      <p:italic r:id="rId29"/>
      <p:boldItalic r:id="rId30"/>
    </p:embeddedFont>
    <p:embeddedFont>
      <p:font typeface="Playfair Display" charset="0"/>
      <p:regular r:id="rId31"/>
      <p:bold r:id="rId32"/>
      <p:italic r:id="rId33"/>
      <p:boldItalic r:id="rId34"/>
    </p:embeddedFont>
    <p:embeddedFont>
      <p:font typeface="Nunito" charset="0"/>
      <p:regular r:id="rId35"/>
      <p:bold r:id="rId36"/>
      <p:italic r:id="rId37"/>
      <p:boldItalic r:id="rId38"/>
    </p:embeddedFont>
    <p:embeddedFont>
      <p:font typeface="Perpetua" pitchFamily="18" charset="0"/>
      <p:regular r:id="rId39"/>
      <p:bold r:id="rId40"/>
      <p:italic r:id="rId41"/>
      <p:boldItalic r:id="rId42"/>
    </p:embeddedFont>
    <p:embeddedFont>
      <p:font typeface="Bernard MT Condensed" pitchFamily="18" charset="0"/>
      <p:regular r:id="rId43"/>
    </p:embeddedFont>
    <p:embeddedFont>
      <p:font typeface="Comic Sans MS" pitchFamily="66" charset="0"/>
      <p:regular r:id="rId44"/>
      <p:bold r:id="rId45"/>
      <p:italic r:id="rId46"/>
      <p:boldItalic r:id="rId47"/>
    </p:embeddedFont>
    <p:embeddedFont>
      <p:font typeface="Arial Black" pitchFamily="34" charset="0"/>
      <p:bold r:id="rId48"/>
    </p:embeddedFont>
    <p:embeddedFont>
      <p:font typeface="Cambria Math" pitchFamily="18" charset="0"/>
      <p:regular r:id="rId49"/>
    </p:embeddedFont>
    <p:embeddedFont>
      <p:font typeface="Wingdings 2" pitchFamily="18" charset="2"/>
      <p:regular r:id="rId50"/>
    </p:embeddedFont>
    <p:embeddedFont>
      <p:font typeface="Franklin Gothic Book" pitchFamily="34" charset="0"/>
      <p:regular r:id="rId51"/>
      <p: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66FF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18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font" Target="fonts/font21.fntdata"/><Relationship Id="rId50" Type="http://schemas.openxmlformats.org/officeDocument/2006/relationships/font" Target="fonts/font24.fntdata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3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font" Target="fonts/font23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52" Type="http://schemas.openxmlformats.org/officeDocument/2006/relationships/font" Target="fonts/font2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font" Target="fonts/font22.fntdata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font" Target="fonts/font25.fntdata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c14d693505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2c14d693505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c14d693505_1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2c14d693505_1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c14d693505_1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2c14d693505_1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c14d693505_1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2c14d693505_1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14d693505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c14d693505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52320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2400300"/>
            <a:ext cx="6400800" cy="120015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sp>
        <p:nvSpPr>
          <p:cNvPr id="7" name="Rectangle 6"/>
          <p:cNvSpPr/>
          <p:nvPr/>
        </p:nvSpPr>
        <p:spPr>
          <a:xfrm>
            <a:off x="62936" y="1086978"/>
            <a:ext cx="9021537" cy="114551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62936" y="1047542"/>
            <a:ext cx="9021537" cy="9043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2936" y="2232488"/>
            <a:ext cx="9021537" cy="82899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129451"/>
            <a:ext cx="8229600" cy="1102519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777240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52320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714376"/>
            <a:ext cx="7772400" cy="1021556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910956"/>
            <a:ext cx="7772400" cy="1003697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4629150"/>
            <a:ext cx="4000500" cy="3429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9" y="1782623"/>
            <a:ext cx="9013515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9153" y="1756110"/>
            <a:ext cx="9013781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8313" y="1851660"/>
            <a:ext cx="9014621" cy="3429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200150"/>
            <a:ext cx="1905000" cy="337185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200150"/>
            <a:ext cx="5715000" cy="33718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75413"/>
            <a:ext cx="7315200" cy="391716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84369"/>
            <a:ext cx="7315200" cy="51435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4629150"/>
            <a:ext cx="3886200" cy="3429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sp>
        <p:nvSpPr>
          <p:cNvPr id="11" name="Rectangle 10"/>
          <p:cNvSpPr/>
          <p:nvPr/>
        </p:nvSpPr>
        <p:spPr>
          <a:xfrm flipV="1">
            <a:off x="68307" y="3512666"/>
            <a:ext cx="9006840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515" y="3487859"/>
            <a:ext cx="9006639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8517" y="3579922"/>
            <a:ext cx="9006637" cy="3660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15" y="50007"/>
            <a:ext cx="9001873" cy="3436144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11680" cy="4388644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2400300"/>
            <a:ext cx="6400800" cy="120015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sp>
        <p:nvSpPr>
          <p:cNvPr id="7" name="Rectangle 6"/>
          <p:cNvSpPr/>
          <p:nvPr/>
        </p:nvSpPr>
        <p:spPr>
          <a:xfrm>
            <a:off x="62932" y="1086978"/>
            <a:ext cx="9021537" cy="114551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2" y="1047540"/>
            <a:ext cx="9021537" cy="9043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2" y="2232487"/>
            <a:ext cx="9021537" cy="82899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129448"/>
            <a:ext cx="8229600" cy="1102519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777240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714376"/>
            <a:ext cx="7772400" cy="1021556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910953"/>
            <a:ext cx="7772400" cy="1003697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4629150"/>
            <a:ext cx="4000500" cy="3429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3" y="1782623"/>
            <a:ext cx="9013515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7" y="1756107"/>
            <a:ext cx="9013781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7" y="1851660"/>
            <a:ext cx="9014621" cy="3429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200150"/>
            <a:ext cx="1905000" cy="337185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200150"/>
            <a:ext cx="5715000" cy="33718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75413"/>
            <a:ext cx="7315200" cy="391716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84369"/>
            <a:ext cx="7315200" cy="51435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4629150"/>
            <a:ext cx="3886200" cy="3429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sp>
        <p:nvSpPr>
          <p:cNvPr id="11" name="Rectangle 10"/>
          <p:cNvSpPr/>
          <p:nvPr/>
        </p:nvSpPr>
        <p:spPr>
          <a:xfrm flipV="1">
            <a:off x="68307" y="3512666"/>
            <a:ext cx="9006840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9" y="3487856"/>
            <a:ext cx="9006639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1" y="3579919"/>
            <a:ext cx="9006637" cy="3660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9" y="50007"/>
            <a:ext cx="9001873" cy="3436144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1"/>
            <a:ext cx="2011680" cy="4388644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05979"/>
            <a:ext cx="7772400" cy="85725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4643437"/>
            <a:ext cx="2476500" cy="357188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4657725"/>
            <a:ext cx="457200" cy="3429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05979"/>
            <a:ext cx="7772400" cy="85725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4643437"/>
            <a:ext cx="2476500" cy="357188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9699C1A-BABB-4078-AA5A-EAF21889C6DD}" type="datetimeFigureOut">
              <a:rPr lang="en-US" smtClean="0"/>
              <a:pPr/>
              <a:t>6/23/2024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4657725"/>
            <a:ext cx="457200" cy="3429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" y="-555867"/>
            <a:ext cx="9144003" cy="6255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11"/>
          <p:cNvGrpSpPr/>
          <p:nvPr/>
        </p:nvGrpSpPr>
        <p:grpSpPr>
          <a:xfrm>
            <a:off x="0" y="451548"/>
            <a:ext cx="9144000" cy="1036729"/>
            <a:chOff x="0" y="-38100"/>
            <a:chExt cx="4816593" cy="546096"/>
          </a:xfrm>
        </p:grpSpPr>
        <p:sp>
          <p:nvSpPr>
            <p:cNvPr id="132" name="Google Shape;132;p11"/>
            <p:cNvSpPr/>
            <p:nvPr/>
          </p:nvSpPr>
          <p:spPr>
            <a:xfrm>
              <a:off x="0" y="0"/>
              <a:ext cx="4816592" cy="507996"/>
            </a:xfrm>
            <a:custGeom>
              <a:avLst/>
              <a:gdLst/>
              <a:ahLst/>
              <a:cxnLst/>
              <a:rect l="l" t="t" r="r" b="b"/>
              <a:pathLst>
                <a:path w="4816592" h="50799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507996"/>
                  </a:lnTo>
                  <a:lnTo>
                    <a:pt x="0" y="507996"/>
                  </a:lnTo>
                  <a:close/>
                </a:path>
              </a:pathLst>
            </a:custGeom>
            <a:solidFill>
              <a:srgbClr val="2B2C30">
                <a:alpha val="52549"/>
              </a:srgbClr>
            </a:solidFill>
            <a:ln>
              <a:noFill/>
            </a:ln>
          </p:spPr>
        </p:sp>
        <p:sp>
          <p:nvSpPr>
            <p:cNvPr id="133" name="Google Shape;133;p11"/>
            <p:cNvSpPr txBox="1"/>
            <p:nvPr/>
          </p:nvSpPr>
          <p:spPr>
            <a:xfrm>
              <a:off x="0" y="-38100"/>
              <a:ext cx="4816593" cy="546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11"/>
          <p:cNvGrpSpPr/>
          <p:nvPr/>
        </p:nvGrpSpPr>
        <p:grpSpPr>
          <a:xfrm>
            <a:off x="0" y="3592199"/>
            <a:ext cx="9144000" cy="1036729"/>
            <a:chOff x="0" y="-38100"/>
            <a:chExt cx="4816593" cy="546096"/>
          </a:xfrm>
        </p:grpSpPr>
        <p:sp>
          <p:nvSpPr>
            <p:cNvPr id="135" name="Google Shape;135;p11"/>
            <p:cNvSpPr/>
            <p:nvPr/>
          </p:nvSpPr>
          <p:spPr>
            <a:xfrm>
              <a:off x="0" y="0"/>
              <a:ext cx="4816592" cy="507996"/>
            </a:xfrm>
            <a:custGeom>
              <a:avLst/>
              <a:gdLst/>
              <a:ahLst/>
              <a:cxnLst/>
              <a:rect l="l" t="t" r="r" b="b"/>
              <a:pathLst>
                <a:path w="4816592" h="50799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507996"/>
                  </a:lnTo>
                  <a:lnTo>
                    <a:pt x="0" y="507996"/>
                  </a:lnTo>
                  <a:close/>
                </a:path>
              </a:pathLst>
            </a:custGeom>
            <a:solidFill>
              <a:srgbClr val="2B2C30">
                <a:alpha val="52549"/>
              </a:srgbClr>
            </a:solidFill>
            <a:ln>
              <a:noFill/>
            </a:ln>
          </p:spPr>
        </p:sp>
        <p:sp>
          <p:nvSpPr>
            <p:cNvPr id="136" name="Google Shape;136;p11"/>
            <p:cNvSpPr txBox="1"/>
            <p:nvPr/>
          </p:nvSpPr>
          <p:spPr>
            <a:xfrm>
              <a:off x="0" y="-38100"/>
              <a:ext cx="4816593" cy="546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1"/>
          <p:cNvGrpSpPr/>
          <p:nvPr/>
        </p:nvGrpSpPr>
        <p:grpSpPr>
          <a:xfrm>
            <a:off x="0" y="2080113"/>
            <a:ext cx="9144000" cy="1036729"/>
            <a:chOff x="0" y="-38100"/>
            <a:chExt cx="4816593" cy="546096"/>
          </a:xfrm>
        </p:grpSpPr>
        <p:sp>
          <p:nvSpPr>
            <p:cNvPr id="138" name="Google Shape;138;p11"/>
            <p:cNvSpPr/>
            <p:nvPr/>
          </p:nvSpPr>
          <p:spPr>
            <a:xfrm>
              <a:off x="0" y="0"/>
              <a:ext cx="4816592" cy="507996"/>
            </a:xfrm>
            <a:custGeom>
              <a:avLst/>
              <a:gdLst/>
              <a:ahLst/>
              <a:cxnLst/>
              <a:rect l="l" t="t" r="r" b="b"/>
              <a:pathLst>
                <a:path w="4816592" h="50799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507996"/>
                  </a:lnTo>
                  <a:lnTo>
                    <a:pt x="0" y="507996"/>
                  </a:lnTo>
                  <a:close/>
                </a:path>
              </a:pathLst>
            </a:custGeom>
            <a:solidFill>
              <a:srgbClr val="2B2C30">
                <a:alpha val="52549"/>
              </a:srgbClr>
            </a:solidFill>
            <a:ln>
              <a:noFill/>
            </a:ln>
          </p:spPr>
        </p:sp>
        <p:sp>
          <p:nvSpPr>
            <p:cNvPr id="139" name="Google Shape;139;p11"/>
            <p:cNvSpPr txBox="1"/>
            <p:nvPr/>
          </p:nvSpPr>
          <p:spPr>
            <a:xfrm>
              <a:off x="0" y="-38100"/>
              <a:ext cx="4816593" cy="546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11"/>
          <p:cNvGrpSpPr/>
          <p:nvPr/>
        </p:nvGrpSpPr>
        <p:grpSpPr>
          <a:xfrm>
            <a:off x="2049518" y="442020"/>
            <a:ext cx="5108027" cy="4701480"/>
            <a:chOff x="0" y="-38100"/>
            <a:chExt cx="2464782" cy="2205567"/>
          </a:xfrm>
        </p:grpSpPr>
        <p:sp>
          <p:nvSpPr>
            <p:cNvPr id="147" name="Google Shape;147;p11"/>
            <p:cNvSpPr/>
            <p:nvPr/>
          </p:nvSpPr>
          <p:spPr>
            <a:xfrm>
              <a:off x="0" y="0"/>
              <a:ext cx="2464782" cy="2167467"/>
            </a:xfrm>
            <a:custGeom>
              <a:avLst/>
              <a:gdLst/>
              <a:ahLst/>
              <a:cxnLst/>
              <a:rect l="l" t="t" r="r" b="b"/>
              <a:pathLst>
                <a:path w="2464782" h="2167467" extrusionOk="0">
                  <a:moveTo>
                    <a:pt x="0" y="0"/>
                  </a:moveTo>
                  <a:lnTo>
                    <a:pt x="2464782" y="0"/>
                  </a:lnTo>
                  <a:lnTo>
                    <a:pt x="246478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EFEEE7"/>
            </a:solidFill>
            <a:ln w="38100" cap="sq" cmpd="sng">
              <a:solidFill>
                <a:srgbClr val="C0A272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48" name="Google Shape;148;p11"/>
            <p:cNvSpPr txBox="1"/>
            <p:nvPr/>
          </p:nvSpPr>
          <p:spPr>
            <a:xfrm>
              <a:off x="0" y="-38100"/>
              <a:ext cx="2464782" cy="22055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1"/>
          <p:cNvSpPr txBox="1"/>
          <p:nvPr/>
        </p:nvSpPr>
        <p:spPr>
          <a:xfrm>
            <a:off x="2186152" y="706631"/>
            <a:ext cx="4740166" cy="3808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b="0" i="0" u="none" strike="noStrike" cap="none" dirty="0" smtClean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HOTEL RESERVATION ANALYSIS</a:t>
            </a:r>
            <a:endParaRPr sz="700"/>
          </a:p>
        </p:txBody>
      </p:sp>
      <p:sp>
        <p:nvSpPr>
          <p:cNvPr id="150" name="Google Shape;150;p11"/>
          <p:cNvSpPr txBox="1"/>
          <p:nvPr/>
        </p:nvSpPr>
        <p:spPr>
          <a:xfrm>
            <a:off x="3804021" y="1027030"/>
            <a:ext cx="1535960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51" name="Google Shape;151;p11"/>
          <p:cNvSpPr txBox="1"/>
          <p:nvPr/>
        </p:nvSpPr>
        <p:spPr>
          <a:xfrm>
            <a:off x="3787105" y="3844447"/>
            <a:ext cx="1569790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autoRev="1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autoRev="1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autoRev="1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C30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/>
        </p:nvSpPr>
        <p:spPr>
          <a:xfrm>
            <a:off x="545881" y="127002"/>
            <a:ext cx="2698500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 dirty="0" smtClean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 dirty="0" smtClean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 dirty="0" smtClean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 dirty="0" smtClean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 dirty="0" smtClean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 dirty="0" smtClean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 dirty="0" smtClean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 dirty="0" smtClean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</a:t>
            </a:r>
            <a:endParaRPr sz="4000"/>
          </a:p>
        </p:txBody>
      </p:sp>
      <p:sp>
        <p:nvSpPr>
          <p:cNvPr id="159" name="Google Shape;159;p12"/>
          <p:cNvSpPr txBox="1"/>
          <p:nvPr/>
        </p:nvSpPr>
        <p:spPr>
          <a:xfrm>
            <a:off x="3692741" y="1601033"/>
            <a:ext cx="382930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63" name="Google Shape;163;p12"/>
          <p:cNvSpPr txBox="1"/>
          <p:nvPr/>
        </p:nvSpPr>
        <p:spPr>
          <a:xfrm>
            <a:off x="4269343" y="2591633"/>
            <a:ext cx="37185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 smtClean="0">
                <a:solidFill>
                  <a:schemeClr val="bg1"/>
                </a:solidFill>
                <a:latin typeface="Playfair Display" charset="0"/>
                <a:sym typeface="Nunito"/>
              </a:rPr>
              <a:t>DATA  EXPLORATION &amp; ANALYSIS</a:t>
            </a:r>
            <a:endParaRPr lang="en-US" sz="1600" b="1" dirty="0">
              <a:solidFill>
                <a:schemeClr val="bg1"/>
              </a:solidFill>
              <a:latin typeface="Playfair Display" charset="0"/>
            </a:endParaRPr>
          </a:p>
        </p:txBody>
      </p:sp>
      <p:sp>
        <p:nvSpPr>
          <p:cNvPr id="166" name="Google Shape;166;p12"/>
          <p:cNvSpPr txBox="1"/>
          <p:nvPr/>
        </p:nvSpPr>
        <p:spPr>
          <a:xfrm>
            <a:off x="3692741" y="2244802"/>
            <a:ext cx="382930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67" name="Google Shape;167;p12"/>
          <p:cNvSpPr txBox="1"/>
          <p:nvPr/>
        </p:nvSpPr>
        <p:spPr>
          <a:xfrm>
            <a:off x="3692741" y="2888568"/>
            <a:ext cx="382930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33" name="TextBox 32"/>
          <p:cNvSpPr txBox="1"/>
          <p:nvPr/>
        </p:nvSpPr>
        <p:spPr>
          <a:xfrm>
            <a:off x="4897820" y="315313"/>
            <a:ext cx="1965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b="1" dirty="0" smtClean="0">
              <a:solidFill>
                <a:schemeClr val="bg1"/>
              </a:solidFill>
              <a:latin typeface="Playfair Display" charset="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Playfair Display" charset="0"/>
              </a:rPr>
              <a:t>INTRODUCTION</a:t>
            </a:r>
          </a:p>
          <a:p>
            <a:pPr algn="ctr"/>
            <a:endParaRPr lang="en-US" sz="1600" b="1" dirty="0">
              <a:solidFill>
                <a:schemeClr val="bg1"/>
              </a:solidFill>
              <a:latin typeface="Playfair Display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93327" y="1534509"/>
            <a:ext cx="30900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Playfair Display" charset="0"/>
              </a:rPr>
              <a:t>DATASET DESCRIPTION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65677" y="3668110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Playfair Display" charset="0"/>
                <a:sym typeface="Nunito"/>
              </a:rPr>
              <a:t>INSIGHTS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3037496" y="1124600"/>
            <a:ext cx="5717627" cy="1050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074282" y="2191424"/>
            <a:ext cx="5717627" cy="1050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3069025" y="3363317"/>
            <a:ext cx="5717627" cy="1050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042749" y="4303992"/>
            <a:ext cx="5717627" cy="1050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08028" y="4614043"/>
            <a:ext cx="1558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  <a:latin typeface="Playfair Display" charset="0"/>
                <a:sym typeface="Nunito"/>
              </a:rPr>
              <a:t>CONCLUSION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/>
      <p:bldP spid="33" grpId="0"/>
      <p:bldP spid="35" grpId="0"/>
      <p:bldP spid="37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19"/>
          <p:cNvGrpSpPr/>
          <p:nvPr/>
        </p:nvGrpSpPr>
        <p:grpSpPr>
          <a:xfrm>
            <a:off x="405480" y="-72330"/>
            <a:ext cx="9194893" cy="5215830"/>
            <a:chOff x="0" y="-38100"/>
            <a:chExt cx="4843400" cy="2747433"/>
          </a:xfrm>
        </p:grpSpPr>
        <p:sp>
          <p:nvSpPr>
            <p:cNvPr id="293" name="Google Shape;293;p19"/>
            <p:cNvSpPr/>
            <p:nvPr/>
          </p:nvSpPr>
          <p:spPr>
            <a:xfrm>
              <a:off x="0" y="0"/>
              <a:ext cx="4843400" cy="2709333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63921"/>
              </a:srgbClr>
            </a:solidFill>
            <a:ln>
              <a:noFill/>
            </a:ln>
          </p:spPr>
        </p:sp>
        <p:sp>
          <p:nvSpPr>
            <p:cNvPr id="294" name="Google Shape;294;p19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1" name="Google Shape;291;p19"/>
          <p:cNvPicPr preferRelativeResize="0"/>
          <p:nvPr/>
        </p:nvPicPr>
        <p:blipFill>
          <a:blip r:embed="rId3">
            <a:alphaModFix/>
            <a:lum bright="-49000"/>
          </a:blip>
          <a:stretch>
            <a:fillRect/>
          </a:stretch>
        </p:blipFill>
        <p:spPr>
          <a:xfrm>
            <a:off x="0" y="-738604"/>
            <a:ext cx="10078925" cy="689479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extBox 21"/>
          <p:cNvSpPr txBox="1"/>
          <p:nvPr/>
        </p:nvSpPr>
        <p:spPr>
          <a:xfrm>
            <a:off x="2038285" y="115613"/>
            <a:ext cx="4685898" cy="76944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solidFill>
                  <a:srgbClr val="CC3300">
                    <a:alpha val="68000"/>
                  </a:srgbClr>
                </a:solidFill>
                <a:latin typeface="Playfair Display" charset="0"/>
              </a:rPr>
              <a:t>INTRODUCTION</a:t>
            </a:r>
            <a:endParaRPr lang="en-US" sz="4400" b="1" dirty="0">
              <a:solidFill>
                <a:srgbClr val="CC3300">
                  <a:alpha val="68000"/>
                </a:srgbClr>
              </a:solidFill>
              <a:latin typeface="Playfair Display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13187" y="1397879"/>
            <a:ext cx="5486400" cy="2246769"/>
          </a:xfrm>
          <a:prstGeom prst="rect">
            <a:avLst/>
          </a:prstGeom>
          <a:noFill/>
          <a:ln>
            <a:solidFill>
              <a:srgbClr val="CC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 smtClean="0">
                <a:solidFill>
                  <a:schemeClr val="bg1"/>
                </a:solidFill>
              </a:rPr>
              <a:t>The hotel industry depends on data to make informed decisions and enhance the guest experience. In this project, I analyzed a comprehensive hotel reservation dataset to uncover insights into guest preferences, booking trends, and other key factors influencing hotel operations.</a:t>
            </a:r>
            <a:endParaRPr lang="en-US" sz="20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782C2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782C2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C30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/>
        </p:nvSpPr>
        <p:spPr>
          <a:xfrm>
            <a:off x="2153911" y="126999"/>
            <a:ext cx="562374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 smtClean="0">
                <a:solidFill>
                  <a:srgbClr val="C0A272"/>
                </a:solidFill>
                <a:latin typeface="Playfair Display"/>
                <a:sym typeface="Playfair Display"/>
              </a:rPr>
              <a:t>DATASET DESCRIPTION</a:t>
            </a:r>
            <a:endParaRPr sz="3600"/>
          </a:p>
        </p:txBody>
      </p:sp>
      <p:sp>
        <p:nvSpPr>
          <p:cNvPr id="159" name="Google Shape;159;p12"/>
          <p:cNvSpPr txBox="1"/>
          <p:nvPr/>
        </p:nvSpPr>
        <p:spPr>
          <a:xfrm>
            <a:off x="3692741" y="1601033"/>
            <a:ext cx="382930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66" name="Google Shape;166;p12"/>
          <p:cNvSpPr txBox="1"/>
          <p:nvPr/>
        </p:nvSpPr>
        <p:spPr>
          <a:xfrm>
            <a:off x="3692741" y="2244802"/>
            <a:ext cx="382930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67" name="Google Shape;167;p12"/>
          <p:cNvSpPr txBox="1"/>
          <p:nvPr/>
        </p:nvSpPr>
        <p:spPr>
          <a:xfrm>
            <a:off x="3692741" y="2888568"/>
            <a:ext cx="382930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3" name="TextBox 12"/>
          <p:cNvSpPr txBox="1"/>
          <p:nvPr/>
        </p:nvSpPr>
        <p:spPr>
          <a:xfrm>
            <a:off x="819808" y="944995"/>
            <a:ext cx="70524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C0A272"/>
                </a:solidFill>
                <a:latin typeface="Playfair Display"/>
                <a:sym typeface="Playfair Display"/>
              </a:rPr>
              <a:t>Booking_ID:   </a:t>
            </a:r>
            <a:r>
              <a:rPr lang="en-US" i="1" dirty="0" smtClean="0">
                <a:solidFill>
                  <a:schemeClr val="bg1"/>
                </a:solidFill>
                <a:latin typeface="Playfair Display" charset="0"/>
              </a:rPr>
              <a:t>A unique identifier for each hotel reservation</a:t>
            </a:r>
            <a:r>
              <a:rPr lang="en-US" dirty="0" smtClean="0">
                <a:solidFill>
                  <a:schemeClr val="bg1"/>
                </a:solidFill>
                <a:latin typeface="Playfair Display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C0A272"/>
                </a:solidFill>
                <a:latin typeface="Playfair Display"/>
                <a:sym typeface="Playfair Display"/>
              </a:rPr>
              <a:t>no_of_adults: </a:t>
            </a:r>
            <a:r>
              <a:rPr lang="en-US" i="1" dirty="0" smtClean="0">
                <a:solidFill>
                  <a:schemeClr val="bg1"/>
                </a:solidFill>
                <a:latin typeface="Playfair Display" charset="0"/>
              </a:rPr>
              <a:t>The number of adults in the reservation</a:t>
            </a:r>
            <a:r>
              <a:rPr lang="en-US" dirty="0" smtClean="0">
                <a:solidFill>
                  <a:schemeClr val="bg1"/>
                </a:solidFill>
                <a:latin typeface="Playfair Display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C0A272"/>
                </a:solidFill>
                <a:latin typeface="Playfair Display"/>
                <a:sym typeface="Playfair Display"/>
              </a:rPr>
              <a:t>no_of_children: </a:t>
            </a:r>
            <a:r>
              <a:rPr lang="en-US" i="1" dirty="0" smtClean="0">
                <a:solidFill>
                  <a:schemeClr val="bg1"/>
                </a:solidFill>
                <a:latin typeface="Playfair Display" charset="0"/>
              </a:rPr>
              <a:t>The number of children in the reservation.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C0A272"/>
                </a:solidFill>
                <a:latin typeface="Playfair Display"/>
                <a:sym typeface="Playfair Display"/>
              </a:rPr>
              <a:t>no_of_weekend_nights: </a:t>
            </a:r>
            <a:r>
              <a:rPr lang="en-US" i="1" dirty="0" smtClean="0">
                <a:solidFill>
                  <a:schemeClr val="bg1"/>
                </a:solidFill>
                <a:latin typeface="Playfair Display" charset="0"/>
              </a:rPr>
              <a:t>The number of nights in the reservation that fall on weekends.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Playfair Display" charset="0"/>
              </a:rPr>
              <a:t> </a:t>
            </a:r>
            <a:r>
              <a:rPr lang="en-US" dirty="0" smtClean="0">
                <a:solidFill>
                  <a:srgbClr val="C0A272"/>
                </a:solidFill>
                <a:latin typeface="Playfair Display"/>
                <a:sym typeface="Playfair Display"/>
              </a:rPr>
              <a:t>no_of_week_nights: </a:t>
            </a:r>
            <a:r>
              <a:rPr lang="en-US" i="1" dirty="0" smtClean="0">
                <a:solidFill>
                  <a:schemeClr val="bg1"/>
                </a:solidFill>
                <a:latin typeface="Playfair Display" charset="0"/>
              </a:rPr>
              <a:t>The number of nights in the reservation that fall on weekdays.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Playfair Display" charset="0"/>
              </a:rPr>
              <a:t> </a:t>
            </a:r>
            <a:r>
              <a:rPr lang="en-US" dirty="0" smtClean="0">
                <a:solidFill>
                  <a:srgbClr val="C0A272"/>
                </a:solidFill>
                <a:latin typeface="Playfair Display"/>
                <a:sym typeface="Playfair Display"/>
              </a:rPr>
              <a:t>type_of_meal_plan: </a:t>
            </a:r>
            <a:r>
              <a:rPr lang="en-US" i="1" dirty="0" smtClean="0">
                <a:solidFill>
                  <a:schemeClr val="bg1"/>
                </a:solidFill>
                <a:latin typeface="Playfair Display" charset="0"/>
              </a:rPr>
              <a:t>The meal plan chosen by the guests</a:t>
            </a:r>
            <a:r>
              <a:rPr lang="en-US" dirty="0" smtClean="0">
                <a:solidFill>
                  <a:schemeClr val="bg1"/>
                </a:solidFill>
                <a:latin typeface="Playfair Display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Playfair Display" charset="0"/>
              </a:rPr>
              <a:t> </a:t>
            </a:r>
            <a:r>
              <a:rPr lang="en-US" dirty="0" smtClean="0">
                <a:solidFill>
                  <a:srgbClr val="C0A272"/>
                </a:solidFill>
                <a:latin typeface="Playfair Display"/>
                <a:sym typeface="Playfair Display"/>
              </a:rPr>
              <a:t>room_type_reserved: </a:t>
            </a:r>
            <a:r>
              <a:rPr lang="en-US" i="1" dirty="0" smtClean="0">
                <a:solidFill>
                  <a:schemeClr val="bg1"/>
                </a:solidFill>
                <a:latin typeface="Playfair Display" charset="0"/>
              </a:rPr>
              <a:t>The type of room reserved by the guests</a:t>
            </a:r>
            <a:r>
              <a:rPr lang="en-US" dirty="0" smtClean="0">
                <a:solidFill>
                  <a:schemeClr val="bg1"/>
                </a:solidFill>
                <a:latin typeface="Playfair Display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Playfair Display" charset="0"/>
              </a:rPr>
              <a:t> </a:t>
            </a:r>
            <a:r>
              <a:rPr lang="en-US" dirty="0" smtClean="0">
                <a:solidFill>
                  <a:srgbClr val="C0A272"/>
                </a:solidFill>
                <a:latin typeface="Playfair Display"/>
                <a:sym typeface="Playfair Display"/>
              </a:rPr>
              <a:t>lead_time: </a:t>
            </a:r>
            <a:r>
              <a:rPr lang="en-US" i="1" dirty="0" smtClean="0">
                <a:solidFill>
                  <a:schemeClr val="bg1"/>
                </a:solidFill>
                <a:latin typeface="Playfair Display" charset="0"/>
              </a:rPr>
              <a:t>The number of days between booking and arrival</a:t>
            </a:r>
            <a:r>
              <a:rPr lang="en-US" dirty="0" smtClean="0">
                <a:solidFill>
                  <a:schemeClr val="bg1"/>
                </a:solidFill>
                <a:latin typeface="Playfair Display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Playfair Display" charset="0"/>
              </a:rPr>
              <a:t> </a:t>
            </a:r>
            <a:r>
              <a:rPr lang="en-US" dirty="0" smtClean="0">
                <a:solidFill>
                  <a:srgbClr val="C0A272"/>
                </a:solidFill>
                <a:latin typeface="Playfair Display"/>
                <a:sym typeface="Playfair Display"/>
              </a:rPr>
              <a:t>arrival_date: </a:t>
            </a:r>
            <a:r>
              <a:rPr lang="en-US" i="1" dirty="0" smtClean="0">
                <a:solidFill>
                  <a:schemeClr val="bg1"/>
                </a:solidFill>
                <a:latin typeface="Playfair Display" charset="0"/>
              </a:rPr>
              <a:t>The date of arrival.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Playfair Display" charset="0"/>
              </a:rPr>
              <a:t> </a:t>
            </a:r>
            <a:r>
              <a:rPr lang="en-US" dirty="0" smtClean="0">
                <a:solidFill>
                  <a:srgbClr val="C0A272"/>
                </a:solidFill>
                <a:latin typeface="Playfair Display"/>
                <a:sym typeface="Playfair Display"/>
              </a:rPr>
              <a:t>market_segment_type: </a:t>
            </a:r>
            <a:r>
              <a:rPr lang="en-US" i="1" dirty="0" smtClean="0">
                <a:solidFill>
                  <a:schemeClr val="bg1"/>
                </a:solidFill>
                <a:latin typeface="Playfair Display" charset="0"/>
              </a:rPr>
              <a:t>The market segment to which the reservation belongs.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C0A272"/>
                </a:solidFill>
                <a:latin typeface="Playfair Display"/>
                <a:sym typeface="Playfair Display"/>
              </a:rPr>
              <a:t> avg_price_per_room: </a:t>
            </a:r>
            <a:r>
              <a:rPr lang="en-US" i="1" dirty="0" smtClean="0">
                <a:solidFill>
                  <a:schemeClr val="bg1"/>
                </a:solidFill>
                <a:latin typeface="Playfair Display" charset="0"/>
              </a:rPr>
              <a:t>The average price per room in the reservation.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C0A272"/>
                </a:solidFill>
                <a:latin typeface="Playfair Display"/>
                <a:sym typeface="Playfair Display"/>
              </a:rPr>
              <a:t>booking_status: </a:t>
            </a:r>
            <a:r>
              <a:rPr lang="en-US" i="1" dirty="0" smtClean="0">
                <a:solidFill>
                  <a:schemeClr val="bg1"/>
                </a:solidFill>
                <a:latin typeface="Playfair Display" charset="0"/>
              </a:rPr>
              <a:t>The status of the booking</a:t>
            </a:r>
            <a:r>
              <a:rPr lang="en-US" dirty="0" smtClean="0">
                <a:solidFill>
                  <a:schemeClr val="bg1"/>
                </a:solidFill>
                <a:latin typeface="Playfair Display" charset="0"/>
              </a:rPr>
              <a:t>.</a:t>
            </a:r>
            <a:endParaRPr lang="en-US" dirty="0">
              <a:solidFill>
                <a:schemeClr val="bg1"/>
              </a:solidFill>
              <a:latin typeface="Playfair Display" charset="0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15"/>
          <p:cNvGrpSpPr/>
          <p:nvPr/>
        </p:nvGrpSpPr>
        <p:grpSpPr>
          <a:xfrm>
            <a:off x="-183014" y="-283778"/>
            <a:ext cx="9327014" cy="5427279"/>
            <a:chOff x="0" y="-149537"/>
            <a:chExt cx="4913092" cy="2858870"/>
          </a:xfrm>
        </p:grpSpPr>
        <p:sp>
          <p:nvSpPr>
            <p:cNvPr id="203" name="Google Shape;203;p15"/>
            <p:cNvSpPr/>
            <p:nvPr/>
          </p:nvSpPr>
          <p:spPr>
            <a:xfrm>
              <a:off x="69692" y="-149537"/>
              <a:ext cx="4843400" cy="2737068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40000"/>
              </a:srgbClr>
            </a:solid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208691" y="525517"/>
            <a:ext cx="7104992" cy="369332"/>
          </a:xfrm>
          <a:prstGeom prst="rect">
            <a:avLst/>
          </a:prstGeom>
          <a:solidFill>
            <a:schemeClr val="bg1">
              <a:alpha val="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sz="1800" b="1" dirty="0" smtClean="0">
                <a:solidFill>
                  <a:schemeClr val="bg1"/>
                </a:solidFill>
              </a:rPr>
              <a:t>What is the total number of reservations in the dataset?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54869" y="2627589"/>
            <a:ext cx="430924" cy="462455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16200000" flipH="1">
            <a:off x="2341182" y="1290151"/>
            <a:ext cx="483477" cy="572813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lum bright="-19000" contrast="1000"/>
          </a:blip>
          <a:srcRect/>
          <a:stretch>
            <a:fillRect/>
          </a:stretch>
        </p:blipFill>
        <p:spPr bwMode="auto">
          <a:xfrm>
            <a:off x="377079" y="2333300"/>
            <a:ext cx="4657376" cy="8303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lum bright="-19000" contrast="1000"/>
          </a:blip>
          <a:srcRect/>
          <a:stretch>
            <a:fillRect/>
          </a:stretch>
        </p:blipFill>
        <p:spPr bwMode="auto">
          <a:xfrm>
            <a:off x="6394855" y="2364831"/>
            <a:ext cx="1887299" cy="8408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2;p15"/>
          <p:cNvGrpSpPr/>
          <p:nvPr/>
        </p:nvGrpSpPr>
        <p:grpSpPr>
          <a:xfrm>
            <a:off x="1" y="-126124"/>
            <a:ext cx="9194713" cy="5269626"/>
            <a:chOff x="-1" y="-66492"/>
            <a:chExt cx="4843401" cy="2775825"/>
          </a:xfrm>
        </p:grpSpPr>
        <p:sp>
          <p:nvSpPr>
            <p:cNvPr id="203" name="Google Shape;203;p15"/>
            <p:cNvSpPr/>
            <p:nvPr/>
          </p:nvSpPr>
          <p:spPr>
            <a:xfrm>
              <a:off x="-1" y="-66492"/>
              <a:ext cx="4816687" cy="2775825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35000"/>
              </a:srgbClr>
            </a:solid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9" name="Rectangle 8"/>
          <p:cNvSpPr/>
          <p:nvPr/>
        </p:nvSpPr>
        <p:spPr>
          <a:xfrm>
            <a:off x="1801483" y="420893"/>
            <a:ext cx="6606296" cy="40011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Which meal plan is the most popular among guests?</a:t>
            </a:r>
          </a:p>
        </p:txBody>
      </p:sp>
      <p:pic>
        <p:nvPicPr>
          <p:cNvPr id="11" name="Picture 10" descr="2.PNG"/>
          <p:cNvPicPr>
            <a:picLocks noChangeAspect="1"/>
          </p:cNvPicPr>
          <p:nvPr/>
        </p:nvPicPr>
        <p:blipFill>
          <a:blip r:embed="rId5">
            <a:lum bright="-15000" contrast="1000"/>
          </a:blip>
          <a:stretch>
            <a:fillRect/>
          </a:stretch>
        </p:blipFill>
        <p:spPr>
          <a:xfrm>
            <a:off x="5828455" y="2511973"/>
            <a:ext cx="2769006" cy="9459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Down Arrow 11"/>
          <p:cNvSpPr/>
          <p:nvPr/>
        </p:nvSpPr>
        <p:spPr>
          <a:xfrm>
            <a:off x="2722180" y="1418898"/>
            <a:ext cx="430924" cy="47296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 rot="16200000">
            <a:off x="5123792" y="2832537"/>
            <a:ext cx="430924" cy="47296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6">
            <a:lum bright="-15000" contrast="1000"/>
          </a:blip>
          <a:srcRect/>
          <a:stretch>
            <a:fillRect/>
          </a:stretch>
        </p:blipFill>
        <p:spPr bwMode="auto">
          <a:xfrm>
            <a:off x="128472" y="2448913"/>
            <a:ext cx="4840695" cy="10720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2;p15"/>
          <p:cNvGrpSpPr/>
          <p:nvPr/>
        </p:nvGrpSpPr>
        <p:grpSpPr>
          <a:xfrm>
            <a:off x="-25359" y="-175892"/>
            <a:ext cx="9194711" cy="5567700"/>
            <a:chOff x="0" y="-38100"/>
            <a:chExt cx="4843400" cy="2932838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-33217"/>
              <a:ext cx="4843400" cy="2927955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33000"/>
              </a:srgbClr>
            </a:solid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lum bright="-19000" contrast="1000"/>
          </a:blip>
          <a:srcRect/>
          <a:stretch>
            <a:fillRect/>
          </a:stretch>
        </p:blipFill>
        <p:spPr bwMode="auto">
          <a:xfrm>
            <a:off x="6584239" y="2274414"/>
            <a:ext cx="1898134" cy="8681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546538" y="439299"/>
            <a:ext cx="76830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What is the average price per room for reservations involving children?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22737" y="2627589"/>
            <a:ext cx="409903" cy="336331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>
            <a:off x="2984938" y="1292772"/>
            <a:ext cx="367862" cy="46245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lum bright="-19000" contrast="1000"/>
          </a:blip>
          <a:srcRect/>
          <a:stretch>
            <a:fillRect/>
          </a:stretch>
        </p:blipFill>
        <p:spPr bwMode="auto">
          <a:xfrm>
            <a:off x="167883" y="2280746"/>
            <a:ext cx="5588502" cy="9007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2;p15"/>
          <p:cNvGrpSpPr/>
          <p:nvPr/>
        </p:nvGrpSpPr>
        <p:grpSpPr>
          <a:xfrm>
            <a:off x="-25359" y="-175892"/>
            <a:ext cx="9194711" cy="5567700"/>
            <a:chOff x="0" y="-38100"/>
            <a:chExt cx="4843400" cy="2932838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-33217"/>
              <a:ext cx="4843400" cy="2927955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35000"/>
              </a:srgbClr>
            </a:solid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10" name="Rectangle 9"/>
          <p:cNvSpPr/>
          <p:nvPr/>
        </p:nvSpPr>
        <p:spPr>
          <a:xfrm>
            <a:off x="1072055" y="229092"/>
            <a:ext cx="73782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How many reservations were made for the year 2018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75885" y="2638099"/>
            <a:ext cx="409903" cy="336331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>
            <a:off x="2984938" y="1292772"/>
            <a:ext cx="367862" cy="46245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lum bright="-19000" contrast="1000"/>
          </a:blip>
          <a:srcRect/>
          <a:stretch>
            <a:fillRect/>
          </a:stretch>
        </p:blipFill>
        <p:spPr bwMode="auto">
          <a:xfrm>
            <a:off x="493993" y="2437835"/>
            <a:ext cx="4700423" cy="8793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lum bright="-19000" contrast="1000"/>
          </a:blip>
          <a:srcRect/>
          <a:stretch>
            <a:fillRect/>
          </a:stretch>
        </p:blipFill>
        <p:spPr bwMode="auto">
          <a:xfrm>
            <a:off x="6325792" y="2459423"/>
            <a:ext cx="1778839" cy="7882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2;p15"/>
          <p:cNvGrpSpPr/>
          <p:nvPr/>
        </p:nvGrpSpPr>
        <p:grpSpPr>
          <a:xfrm>
            <a:off x="-50711" y="-133851"/>
            <a:ext cx="9194711" cy="5567700"/>
            <a:chOff x="0" y="-38100"/>
            <a:chExt cx="4843400" cy="2932838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-33217"/>
              <a:ext cx="4843400" cy="2927955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35000"/>
              </a:srgbClr>
            </a:solid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10" name="Rectangle 9"/>
          <p:cNvSpPr/>
          <p:nvPr/>
        </p:nvSpPr>
        <p:spPr>
          <a:xfrm>
            <a:off x="1082572" y="439299"/>
            <a:ext cx="65794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 smtClean="0"/>
              <a:t> </a:t>
            </a:r>
            <a:r>
              <a:rPr lang="en-US" sz="2000" b="1" dirty="0" smtClean="0">
                <a:solidFill>
                  <a:schemeClr val="bg1"/>
                </a:solidFill>
              </a:rPr>
              <a:t>What is the most commonly booked room type?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12531" y="2417381"/>
            <a:ext cx="409903" cy="336331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>
            <a:off x="2984938" y="1292772"/>
            <a:ext cx="367862" cy="46245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lum bright="-15000" contrast="1000"/>
          </a:blip>
          <a:srcRect/>
          <a:stretch>
            <a:fillRect/>
          </a:stretch>
        </p:blipFill>
        <p:spPr bwMode="auto">
          <a:xfrm>
            <a:off x="6346523" y="2102072"/>
            <a:ext cx="2082779" cy="9144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lum bright="-15000" contrast="1000"/>
          </a:blip>
          <a:srcRect/>
          <a:stretch>
            <a:fillRect/>
          </a:stretch>
        </p:blipFill>
        <p:spPr bwMode="auto">
          <a:xfrm>
            <a:off x="258010" y="2091561"/>
            <a:ext cx="5046758" cy="8928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3">
            <a:alphaModFix/>
            <a:lum contrast="-17000"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2;p15"/>
          <p:cNvGrpSpPr/>
          <p:nvPr/>
        </p:nvGrpSpPr>
        <p:grpSpPr>
          <a:xfrm>
            <a:off x="-25359" y="-175892"/>
            <a:ext cx="9194711" cy="5567700"/>
            <a:chOff x="0" y="-38100"/>
            <a:chExt cx="4843400" cy="2932838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-33217"/>
              <a:ext cx="4843400" cy="2927955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107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0" indent="0" algn="ctr">
                <a:buFont typeface="Arial"/>
                <a:buNone/>
              </a:pPr>
              <a:endParaRPr lang="en-US" sz="2000" b="1" dirty="0">
                <a:solidFill>
                  <a:schemeClr val="bg1"/>
                </a:solidFill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10" name="Rectangle 9"/>
          <p:cNvSpPr/>
          <p:nvPr/>
        </p:nvSpPr>
        <p:spPr>
          <a:xfrm>
            <a:off x="388889" y="439299"/>
            <a:ext cx="786173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How many reservations fall on a weekend (no_of_weekend_nights &gt; 0)?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23648" y="2669631"/>
            <a:ext cx="409903" cy="336331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>
            <a:off x="2974428" y="1576551"/>
            <a:ext cx="367862" cy="46245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lum bright="-15000" contrast="1000"/>
          </a:blip>
          <a:srcRect/>
          <a:stretch>
            <a:fillRect/>
          </a:stretch>
        </p:blipFill>
        <p:spPr bwMode="auto">
          <a:xfrm>
            <a:off x="6090555" y="2469933"/>
            <a:ext cx="1873332" cy="8092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lum bright="-15000" contrast="1000"/>
          </a:blip>
          <a:srcRect/>
          <a:stretch>
            <a:fillRect/>
          </a:stretch>
        </p:blipFill>
        <p:spPr bwMode="auto">
          <a:xfrm>
            <a:off x="256861" y="2490952"/>
            <a:ext cx="4779899" cy="8129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2;p15"/>
          <p:cNvGrpSpPr/>
          <p:nvPr/>
        </p:nvGrpSpPr>
        <p:grpSpPr>
          <a:xfrm>
            <a:off x="-25359" y="-175892"/>
            <a:ext cx="9194711" cy="5567700"/>
            <a:chOff x="0" y="-38100"/>
            <a:chExt cx="4843400" cy="2932838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-33217"/>
              <a:ext cx="4843400" cy="2927955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35000"/>
              </a:srgbClr>
            </a:solid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10" name="Rectangle 9"/>
          <p:cNvSpPr/>
          <p:nvPr/>
        </p:nvSpPr>
        <p:spPr>
          <a:xfrm>
            <a:off x="840834" y="439299"/>
            <a:ext cx="74097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What is the highest and lowest lead time for reservations?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70182" y="2596058"/>
            <a:ext cx="409903" cy="336331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>
            <a:off x="2984938" y="1292772"/>
            <a:ext cx="367862" cy="46245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lum bright="-15000" contrast="1000"/>
          </a:blip>
          <a:srcRect/>
          <a:stretch>
            <a:fillRect/>
          </a:stretch>
        </p:blipFill>
        <p:spPr bwMode="auto">
          <a:xfrm>
            <a:off x="6418206" y="2301767"/>
            <a:ext cx="2336168" cy="8513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lum bright="-15000" contrast="1000"/>
          </a:blip>
          <a:srcRect/>
          <a:stretch>
            <a:fillRect/>
          </a:stretch>
        </p:blipFill>
        <p:spPr bwMode="auto">
          <a:xfrm>
            <a:off x="353892" y="2343808"/>
            <a:ext cx="5353231" cy="8723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2;p15"/>
          <p:cNvGrpSpPr/>
          <p:nvPr/>
        </p:nvGrpSpPr>
        <p:grpSpPr>
          <a:xfrm>
            <a:off x="-25359" y="-175892"/>
            <a:ext cx="9194711" cy="5567700"/>
            <a:chOff x="0" y="-38100"/>
            <a:chExt cx="4843400" cy="2932838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-33217"/>
              <a:ext cx="4843400" cy="2927955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35000"/>
              </a:srgbClr>
            </a:solid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10" name="Rectangle 9"/>
          <p:cNvSpPr/>
          <p:nvPr/>
        </p:nvSpPr>
        <p:spPr>
          <a:xfrm>
            <a:off x="1082572" y="439299"/>
            <a:ext cx="69263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What is the most common market segment type for reservations?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984938" y="1292772"/>
            <a:ext cx="367862" cy="46245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lum bright="-15000" contrast="1000"/>
          </a:blip>
          <a:srcRect/>
          <a:stretch>
            <a:fillRect/>
          </a:stretch>
        </p:blipFill>
        <p:spPr bwMode="auto">
          <a:xfrm>
            <a:off x="5645569" y="2942897"/>
            <a:ext cx="3124166" cy="15323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lum bright="-15000" contrast="1000"/>
          </a:blip>
          <a:srcRect/>
          <a:stretch>
            <a:fillRect/>
          </a:stretch>
        </p:blipFill>
        <p:spPr bwMode="auto">
          <a:xfrm>
            <a:off x="5592704" y="1587064"/>
            <a:ext cx="3274906" cy="7462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lum bright="-15000" contrast="1000"/>
          </a:blip>
          <a:srcRect/>
          <a:stretch>
            <a:fillRect/>
          </a:stretch>
        </p:blipFill>
        <p:spPr bwMode="auto">
          <a:xfrm>
            <a:off x="177362" y="1923396"/>
            <a:ext cx="5120516" cy="10405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2;p15"/>
          <p:cNvGrpSpPr/>
          <p:nvPr/>
        </p:nvGrpSpPr>
        <p:grpSpPr>
          <a:xfrm>
            <a:off x="-50711" y="-175892"/>
            <a:ext cx="9194711" cy="5567700"/>
            <a:chOff x="0" y="-38100"/>
            <a:chExt cx="4843400" cy="2932838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-33217"/>
              <a:ext cx="4843400" cy="2927955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31000"/>
              </a:srgbClr>
            </a:solid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10" name="Rectangle 9"/>
          <p:cNvSpPr/>
          <p:nvPr/>
        </p:nvSpPr>
        <p:spPr>
          <a:xfrm>
            <a:off x="1082572" y="439299"/>
            <a:ext cx="65794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How many reservations have a booking status of "Confirmed"?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91813" y="2459424"/>
            <a:ext cx="409903" cy="336331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>
            <a:off x="2984938" y="1292772"/>
            <a:ext cx="367862" cy="46245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lum bright="-15000" contrast="1000"/>
          </a:blip>
          <a:srcRect/>
          <a:stretch>
            <a:fillRect/>
          </a:stretch>
        </p:blipFill>
        <p:spPr bwMode="auto">
          <a:xfrm>
            <a:off x="567565" y="2238704"/>
            <a:ext cx="4223845" cy="9459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lum bright="-15000" contrast="1000"/>
          </a:blip>
          <a:srcRect/>
          <a:stretch>
            <a:fillRect/>
          </a:stretch>
        </p:blipFill>
        <p:spPr bwMode="auto">
          <a:xfrm>
            <a:off x="6295702" y="2315785"/>
            <a:ext cx="1881351" cy="8631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2;p15"/>
          <p:cNvGrpSpPr/>
          <p:nvPr/>
        </p:nvGrpSpPr>
        <p:grpSpPr>
          <a:xfrm>
            <a:off x="-25359" y="-177132"/>
            <a:ext cx="9194711" cy="5558430"/>
            <a:chOff x="0" y="-38753"/>
            <a:chExt cx="4843400" cy="2927955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-38753"/>
              <a:ext cx="4843400" cy="2927955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21000"/>
              </a:srgbClr>
            </a:solid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10" name="Rectangle 9"/>
          <p:cNvSpPr/>
          <p:nvPr/>
        </p:nvSpPr>
        <p:spPr>
          <a:xfrm>
            <a:off x="1082572" y="439299"/>
            <a:ext cx="65794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What is the total number of adults and children across all reservations?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44365" y="2575037"/>
            <a:ext cx="409903" cy="336331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>
            <a:off x="2984938" y="1292772"/>
            <a:ext cx="367862" cy="46245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lum bright="-15000" contrast="1000"/>
          </a:blip>
          <a:srcRect/>
          <a:stretch>
            <a:fillRect/>
          </a:stretch>
        </p:blipFill>
        <p:spPr bwMode="auto">
          <a:xfrm>
            <a:off x="558875" y="2217686"/>
            <a:ext cx="4635372" cy="8919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lum bright="-15000" contrast="1000"/>
          </a:blip>
          <a:srcRect/>
          <a:stretch>
            <a:fillRect/>
          </a:stretch>
        </p:blipFill>
        <p:spPr bwMode="auto">
          <a:xfrm>
            <a:off x="5967171" y="2175642"/>
            <a:ext cx="2977132" cy="9084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2;p15"/>
          <p:cNvGrpSpPr/>
          <p:nvPr/>
        </p:nvGrpSpPr>
        <p:grpSpPr>
          <a:xfrm>
            <a:off x="-25359" y="-175892"/>
            <a:ext cx="9194711" cy="5567700"/>
            <a:chOff x="0" y="-38100"/>
            <a:chExt cx="4843400" cy="2932838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-33217"/>
              <a:ext cx="4843400" cy="2927955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27000"/>
              </a:srgbClr>
            </a:solid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10" name="Rectangle 9"/>
          <p:cNvSpPr/>
          <p:nvPr/>
        </p:nvSpPr>
        <p:spPr>
          <a:xfrm>
            <a:off x="1082572" y="439299"/>
            <a:ext cx="65794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What is the average number of weekend nights for reservations involving children?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44365" y="2575037"/>
            <a:ext cx="409903" cy="336331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>
            <a:off x="2984938" y="1292772"/>
            <a:ext cx="367862" cy="46245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4">
            <a:lum bright="-15000" contrast="1000"/>
          </a:blip>
          <a:srcRect/>
          <a:stretch>
            <a:fillRect/>
          </a:stretch>
        </p:blipFill>
        <p:spPr bwMode="auto">
          <a:xfrm>
            <a:off x="6078852" y="2144113"/>
            <a:ext cx="2722732" cy="9774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5">
            <a:lum bright="-15000" contrast="1000"/>
          </a:blip>
          <a:srcRect/>
          <a:stretch>
            <a:fillRect/>
          </a:stretch>
        </p:blipFill>
        <p:spPr bwMode="auto">
          <a:xfrm>
            <a:off x="377697" y="2186155"/>
            <a:ext cx="4824924" cy="9459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2;p15"/>
          <p:cNvGrpSpPr/>
          <p:nvPr/>
        </p:nvGrpSpPr>
        <p:grpSpPr>
          <a:xfrm>
            <a:off x="-25359" y="-175892"/>
            <a:ext cx="9194711" cy="5567700"/>
            <a:chOff x="0" y="-38100"/>
            <a:chExt cx="4843400" cy="2932838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-33217"/>
              <a:ext cx="4843400" cy="2927955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36000"/>
              </a:srgbClr>
            </a:solid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10" name="Rectangle 9"/>
          <p:cNvSpPr/>
          <p:nvPr/>
        </p:nvSpPr>
        <p:spPr>
          <a:xfrm>
            <a:off x="1114103" y="0"/>
            <a:ext cx="65794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How many reservations were made in each month of the year?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268717" y="830317"/>
            <a:ext cx="367862" cy="46245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lum bright="-15000" contrast="1000"/>
          </a:blip>
          <a:srcRect/>
          <a:stretch>
            <a:fillRect/>
          </a:stretch>
        </p:blipFill>
        <p:spPr bwMode="auto">
          <a:xfrm>
            <a:off x="231232" y="1408389"/>
            <a:ext cx="5591503" cy="12822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5">
            <a:lum bright="-15000" contrast="1000"/>
          </a:blip>
          <a:srcRect/>
          <a:stretch>
            <a:fillRect/>
          </a:stretch>
        </p:blipFill>
        <p:spPr bwMode="auto">
          <a:xfrm>
            <a:off x="6227550" y="1113275"/>
            <a:ext cx="2238375" cy="3400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2;p15"/>
          <p:cNvGrpSpPr/>
          <p:nvPr/>
        </p:nvGrpSpPr>
        <p:grpSpPr>
          <a:xfrm>
            <a:off x="-25359" y="-175892"/>
            <a:ext cx="9194711" cy="5567700"/>
            <a:chOff x="0" y="-38100"/>
            <a:chExt cx="4843400" cy="2932838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-33217"/>
              <a:ext cx="4843400" cy="2927955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43000"/>
              </a:srgbClr>
            </a:solid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10" name="Rectangle 9"/>
          <p:cNvSpPr/>
          <p:nvPr/>
        </p:nvSpPr>
        <p:spPr>
          <a:xfrm>
            <a:off x="1082572" y="439299"/>
            <a:ext cx="65794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What is the average number of nights (both weekend and weekday) spent by guests for each room type?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636579" y="1103586"/>
            <a:ext cx="367862" cy="46245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lum bright="-15000" contrast="1000"/>
          </a:blip>
          <a:srcRect/>
          <a:stretch>
            <a:fillRect/>
          </a:stretch>
        </p:blipFill>
        <p:spPr bwMode="auto">
          <a:xfrm>
            <a:off x="425511" y="1702679"/>
            <a:ext cx="8124825" cy="10717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lum bright="-15000" contrast="1000"/>
          </a:blip>
          <a:srcRect/>
          <a:stretch>
            <a:fillRect/>
          </a:stretch>
        </p:blipFill>
        <p:spPr bwMode="auto">
          <a:xfrm>
            <a:off x="2154622" y="3057294"/>
            <a:ext cx="4666592" cy="18195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2;p15"/>
          <p:cNvGrpSpPr/>
          <p:nvPr/>
        </p:nvGrpSpPr>
        <p:grpSpPr>
          <a:xfrm>
            <a:off x="3" y="-220717"/>
            <a:ext cx="9194711" cy="5567700"/>
            <a:chOff x="0" y="-38100"/>
            <a:chExt cx="4843400" cy="2932838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-33217"/>
              <a:ext cx="4843400" cy="2927955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43000"/>
              </a:srgbClr>
            </a:solid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solidFill>
              <a:srgbClr val="3B3A30">
                <a:alpha val="1000"/>
              </a:srgbClr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10" name="Rectangle 9"/>
          <p:cNvSpPr/>
          <p:nvPr/>
        </p:nvSpPr>
        <p:spPr>
          <a:xfrm>
            <a:off x="798792" y="4"/>
            <a:ext cx="693682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For reservations involving children, what is the most common room type, and what is the average price for that room type?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636579" y="1103586"/>
            <a:ext cx="367862" cy="46245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lum bright="-15000" contrast="1000"/>
          </a:blip>
          <a:srcRect/>
          <a:stretch>
            <a:fillRect/>
          </a:stretch>
        </p:blipFill>
        <p:spPr bwMode="auto">
          <a:xfrm>
            <a:off x="543587" y="1734210"/>
            <a:ext cx="7465301" cy="10195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lum bright="-15000" contrast="1000"/>
          </a:blip>
          <a:srcRect/>
          <a:stretch>
            <a:fillRect/>
          </a:stretch>
        </p:blipFill>
        <p:spPr bwMode="auto">
          <a:xfrm>
            <a:off x="2033984" y="3247698"/>
            <a:ext cx="4282734" cy="15123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63" y="-175900"/>
            <a:ext cx="9194726" cy="5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2;p15"/>
          <p:cNvGrpSpPr/>
          <p:nvPr/>
        </p:nvGrpSpPr>
        <p:grpSpPr>
          <a:xfrm>
            <a:off x="3" y="-252246"/>
            <a:ext cx="9194711" cy="5558429"/>
            <a:chOff x="0" y="-170974"/>
            <a:chExt cx="4843400" cy="2927954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-170974"/>
              <a:ext cx="4816688" cy="2927954"/>
            </a:xfrm>
            <a:custGeom>
              <a:avLst/>
              <a:gdLst/>
              <a:ahLst/>
              <a:cxnLst/>
              <a:rect l="l" t="t" r="r" b="b"/>
              <a:pathLst>
                <a:path w="4843400" h="2709333" extrusionOk="0">
                  <a:moveTo>
                    <a:pt x="0" y="0"/>
                  </a:moveTo>
                  <a:lnTo>
                    <a:pt x="4843400" y="0"/>
                  </a:lnTo>
                  <a:lnTo>
                    <a:pt x="4843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3A30">
                <a:alpha val="29000"/>
              </a:srgbClr>
            </a:solid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38100"/>
              <a:ext cx="484340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 txBox="1"/>
          <p:nvPr/>
        </p:nvSpPr>
        <p:spPr>
          <a:xfrm>
            <a:off x="742674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4" name="Google Shape;234;p15"/>
          <p:cNvSpPr txBox="1"/>
          <p:nvPr/>
        </p:nvSpPr>
        <p:spPr>
          <a:xfrm>
            <a:off x="-180160" y="3029764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236" name="Google Shape;236;p15"/>
          <p:cNvSpPr txBox="1"/>
          <p:nvPr/>
        </p:nvSpPr>
        <p:spPr>
          <a:xfrm>
            <a:off x="136873" y="4024008"/>
            <a:ext cx="15795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 smtClean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700"/>
          </a:p>
        </p:txBody>
      </p:sp>
      <p:sp>
        <p:nvSpPr>
          <p:cNvPr id="10" name="Rectangle 9"/>
          <p:cNvSpPr/>
          <p:nvPr/>
        </p:nvSpPr>
        <p:spPr>
          <a:xfrm>
            <a:off x="1061551" y="271133"/>
            <a:ext cx="69368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Find the market segment type that generates the highest average price per room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846786" y="1103586"/>
            <a:ext cx="367862" cy="462456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lum bright="-15000" contrast="1000"/>
          </a:blip>
          <a:srcRect/>
          <a:stretch>
            <a:fillRect/>
          </a:stretch>
        </p:blipFill>
        <p:spPr bwMode="auto">
          <a:xfrm>
            <a:off x="527354" y="1765740"/>
            <a:ext cx="7289065" cy="9043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lum bright="-15000" contrast="1000"/>
          </a:blip>
          <a:srcRect/>
          <a:stretch>
            <a:fillRect/>
          </a:stretch>
        </p:blipFill>
        <p:spPr bwMode="auto">
          <a:xfrm>
            <a:off x="2221624" y="2868668"/>
            <a:ext cx="3758762" cy="17138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Bevel 27"/>
          <p:cNvSpPr/>
          <p:nvPr/>
        </p:nvSpPr>
        <p:spPr>
          <a:xfrm>
            <a:off x="3121572" y="1755228"/>
            <a:ext cx="2669628" cy="1576551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596056" y="220716"/>
            <a:ext cx="29113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/>
                </a:solidFill>
                <a:latin typeface="Bernard MT Condensed" pitchFamily="18" charset="0"/>
              </a:rPr>
              <a:t>   INSIGHTS</a:t>
            </a:r>
            <a:endParaRPr lang="en-US" sz="4000" b="1" dirty="0">
              <a:solidFill>
                <a:schemeClr val="accent1"/>
              </a:solidFill>
              <a:latin typeface="Bernard MT Condensed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78621" y="2501463"/>
            <a:ext cx="1397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Comic Sans MS" pitchFamily="66" charset="0"/>
              </a:rPr>
              <a:t>700</a:t>
            </a:r>
            <a:endParaRPr lang="en-US" sz="3200" b="1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89439" y="2060029"/>
            <a:ext cx="1996967" cy="3385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Comic Sans MS" pitchFamily="66" charset="0"/>
              </a:rPr>
              <a:t>RESERVATIONS</a:t>
            </a:r>
            <a:endParaRPr lang="en-US" sz="1600" b="1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 useBgFill="1">
        <p:nvSpPr>
          <p:cNvPr id="14" name="Rounded Rectangle 13"/>
          <p:cNvSpPr/>
          <p:nvPr/>
        </p:nvSpPr>
        <p:spPr>
          <a:xfrm>
            <a:off x="252248" y="546537"/>
            <a:ext cx="2228198" cy="2028496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accent2"/>
                </a:solidFill>
                <a:latin typeface="Comic Sans MS" pitchFamily="66" charset="0"/>
              </a:rPr>
              <a:t>534 </a:t>
            </a:r>
            <a:r>
              <a:rPr lang="en-US" sz="1600" dirty="0" smtClean="0">
                <a:solidFill>
                  <a:schemeClr val="bg1"/>
                </a:solidFill>
                <a:latin typeface="Comic Sans MS" pitchFamily="66" charset="0"/>
              </a:rPr>
              <a:t>guests have chosen </a:t>
            </a:r>
            <a:r>
              <a:rPr lang="en-US" sz="1600" b="1" dirty="0" smtClean="0">
                <a:solidFill>
                  <a:schemeClr val="accent2"/>
                </a:solidFill>
                <a:latin typeface="Comic Sans MS" pitchFamily="66" charset="0"/>
              </a:rPr>
              <a:t>Room Type 1, </a:t>
            </a:r>
            <a:r>
              <a:rPr lang="en-US" sz="1600" dirty="0" smtClean="0">
                <a:solidFill>
                  <a:schemeClr val="bg1"/>
                </a:solidFill>
                <a:latin typeface="Comic Sans MS" pitchFamily="66" charset="0"/>
              </a:rPr>
              <a:t>indicating its popularity among our guests</a:t>
            </a:r>
            <a:r>
              <a:rPr lang="en-US" sz="1600" b="1" dirty="0" smtClean="0">
                <a:solidFill>
                  <a:schemeClr val="accent2"/>
                </a:solidFill>
                <a:latin typeface="Comic Sans MS" pitchFamily="66" charset="0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7738" y="630621"/>
            <a:ext cx="2280744" cy="1923388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accent2"/>
                </a:solidFill>
                <a:latin typeface="Comic Sans MS" pitchFamily="66" charset="0"/>
              </a:rPr>
              <a:t>Meal Plan 1 </a:t>
            </a:r>
            <a:r>
              <a:rPr lang="en-US" sz="1600" dirty="0" smtClean="0">
                <a:solidFill>
                  <a:schemeClr val="bg1"/>
                </a:solidFill>
                <a:latin typeface="Comic Sans MS" pitchFamily="66" charset="0"/>
              </a:rPr>
              <a:t>has been chosen by a total of </a:t>
            </a:r>
            <a:r>
              <a:rPr lang="en-US" sz="1600" b="1" dirty="0" smtClean="0">
                <a:solidFill>
                  <a:schemeClr val="accent2"/>
                </a:solidFill>
                <a:latin typeface="Comic Sans MS" pitchFamily="66" charset="0"/>
              </a:rPr>
              <a:t>527 </a:t>
            </a:r>
            <a:r>
              <a:rPr lang="en-US" sz="1600" dirty="0" smtClean="0">
                <a:solidFill>
                  <a:schemeClr val="bg1"/>
                </a:solidFill>
                <a:latin typeface="Comic Sans MS" pitchFamily="66" charset="0"/>
              </a:rPr>
              <a:t>guests, showcasing its widespread popularity among our guests</a:t>
            </a:r>
            <a:r>
              <a:rPr lang="en-US" sz="1600" b="1" dirty="0" smtClean="0">
                <a:solidFill>
                  <a:schemeClr val="accent2"/>
                </a:solidFill>
                <a:latin typeface="Comic Sans MS" pitchFamily="66" charset="0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4803" y="2963918"/>
            <a:ext cx="2301764" cy="2049516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accent2"/>
                </a:solidFill>
                <a:latin typeface="Comic Sans MS" pitchFamily="66" charset="0"/>
              </a:rPr>
              <a:t>Online</a:t>
            </a:r>
            <a:r>
              <a:rPr lang="en-US" sz="1600" dirty="0" smtClean="0">
                <a:solidFill>
                  <a:schemeClr val="bg1"/>
                </a:solidFill>
                <a:latin typeface="Comic Sans MS" pitchFamily="66" charset="0"/>
              </a:rPr>
              <a:t> reservations have been favored by </a:t>
            </a:r>
            <a:r>
              <a:rPr lang="en-US" sz="1600" b="1" dirty="0" smtClean="0">
                <a:solidFill>
                  <a:schemeClr val="accent2"/>
                </a:solidFill>
                <a:latin typeface="Comic Sans MS" pitchFamily="66" charset="0"/>
              </a:rPr>
              <a:t>518</a:t>
            </a:r>
            <a:r>
              <a:rPr lang="en-US" sz="1600" dirty="0" smtClean="0">
                <a:solidFill>
                  <a:schemeClr val="bg1"/>
                </a:solidFill>
                <a:latin typeface="Comic Sans MS" pitchFamily="66" charset="0"/>
              </a:rPr>
              <a:t> guests, highlighting the convenience and preference for digital booking methods</a:t>
            </a:r>
            <a:r>
              <a:rPr lang="en-US" sz="1600" b="1" dirty="0" smtClean="0">
                <a:solidFill>
                  <a:schemeClr val="accent2"/>
                </a:solidFill>
                <a:latin typeface="Comic Sans MS" pitchFamily="66" charset="0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4682" y="3005961"/>
            <a:ext cx="2417379" cy="2007475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accent1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Comic Sans MS" pitchFamily="66" charset="0"/>
              </a:rPr>
              <a:t>Out of all reservations, </a:t>
            </a:r>
            <a:r>
              <a:rPr lang="en-US" sz="1600" b="1" dirty="0" smtClean="0">
                <a:solidFill>
                  <a:schemeClr val="accent2"/>
                </a:solidFill>
                <a:latin typeface="Comic Sans MS" pitchFamily="66" charset="0"/>
              </a:rPr>
              <a:t>493</a:t>
            </a:r>
            <a:r>
              <a:rPr lang="en-US" sz="1600" dirty="0" smtClean="0">
                <a:solidFill>
                  <a:schemeClr val="bg1"/>
                </a:solidFill>
                <a:latin typeface="Comic Sans MS" pitchFamily="66" charset="0"/>
              </a:rPr>
              <a:t> bookings have been </a:t>
            </a:r>
            <a:r>
              <a:rPr lang="en-US" sz="1600" b="1" dirty="0" smtClean="0">
                <a:solidFill>
                  <a:schemeClr val="accent2"/>
                </a:solidFill>
                <a:latin typeface="Comic Sans MS" pitchFamily="66" charset="0"/>
              </a:rPr>
              <a:t>confirmed</a:t>
            </a:r>
            <a:r>
              <a:rPr lang="en-US" sz="1600" dirty="0" smtClean="0">
                <a:solidFill>
                  <a:schemeClr val="bg1"/>
                </a:solidFill>
                <a:latin typeface="Comic Sans MS" pitchFamily="66" charset="0"/>
              </a:rPr>
              <a:t> by our guests, highlighting strong commitment to their stays</a:t>
            </a:r>
            <a:r>
              <a:rPr lang="en-US" sz="1600" b="1" dirty="0" smtClean="0">
                <a:solidFill>
                  <a:schemeClr val="accent2"/>
                </a:solidFill>
                <a:latin typeface="Comic Sans MS" pitchFamily="66" charset="0"/>
              </a:rPr>
              <a:t>.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2711673" y="226000"/>
            <a:ext cx="2911365" cy="704964"/>
            <a:chOff x="2638097" y="226000"/>
            <a:chExt cx="2911365" cy="704964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2648607" y="903889"/>
              <a:ext cx="2900855" cy="2102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2638097" y="226000"/>
              <a:ext cx="2906115" cy="1573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5175554" y="583326"/>
              <a:ext cx="683962" cy="79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5400000">
              <a:off x="2332604" y="588586"/>
              <a:ext cx="683962" cy="79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rizontal Scroll 3"/>
          <p:cNvSpPr/>
          <p:nvPr/>
        </p:nvSpPr>
        <p:spPr>
          <a:xfrm>
            <a:off x="1912880" y="147144"/>
            <a:ext cx="4572000" cy="1030014"/>
          </a:xfrm>
          <a:prstGeom prst="horizontalScroll">
            <a:avLst/>
          </a:prstGeom>
          <a:solidFill>
            <a:schemeClr val="tx1"/>
          </a:solidFill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8193" y="346841"/>
            <a:ext cx="3825766" cy="66215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/>
                </a:solidFill>
                <a:latin typeface="Comic Sans MS" pitchFamily="66" charset="0"/>
              </a:rPr>
              <a:t>CONCLUSION</a:t>
            </a:r>
            <a:endParaRPr lang="en-US" b="1" dirty="0">
              <a:solidFill>
                <a:schemeClr val="accent1"/>
              </a:solidFill>
              <a:latin typeface="Comic Sans MS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61246" y="1334815"/>
            <a:ext cx="6495393" cy="258532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chemeClr val="bg1"/>
                </a:solidFill>
                <a:latin typeface="Comic Sans MS" pitchFamily="66" charset="0"/>
              </a:rPr>
              <a:t>Analyzing the hotel reservation dataset yields crucial insights for informed decision-making within the hospitality industry. These insights encompass a deep understanding of guest preferences, popular meal plans, room types, booking trends, and market strategies. Leveraging these data-driven insights not only enhances the guest experience but also empowers hotels to remain competitive, attract the right audience, and drive business success</a:t>
            </a:r>
            <a:r>
              <a:rPr lang="en-US" sz="1800" dirty="0" smtClean="0">
                <a:latin typeface="Comic Sans MS" pitchFamily="66" charset="0"/>
              </a:rPr>
              <a:t>.</a:t>
            </a:r>
            <a:endParaRPr lang="en-US" sz="1800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91258" y="1471450"/>
            <a:ext cx="4382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itchFamily="34" charset="0"/>
              </a:rPr>
              <a:t>THANK YOU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  <a:latin typeface="Arial Black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2249218"/>
            <a:ext cx="9144000" cy="63062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166649"/>
            <a:ext cx="9144000" cy="3153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49516" y="2385853"/>
            <a:ext cx="50764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For any inquiries, please feel free to contact :</a:t>
            </a:r>
          </a:p>
          <a:p>
            <a:r>
              <a:rPr lang="en-US" sz="1800" i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</a:t>
            </a:r>
            <a:r>
              <a:rPr lang="en-US" sz="1800" dirty="0" smtClean="0">
                <a:solidFill>
                  <a:schemeClr val="accent1">
                    <a:lumMod val="60000"/>
                    <a:lumOff val="40000"/>
                  </a:schemeClr>
                </a:solidFill>
                <a:sym typeface="Wingdings"/>
              </a:rPr>
              <a:t></a:t>
            </a:r>
            <a:r>
              <a:rPr lang="en-US" sz="1800" i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nidhigusain914@gmail.com  </a:t>
            </a:r>
          </a:p>
          <a:p>
            <a:endParaRPr lang="en-US" sz="18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21213" y="4151590"/>
            <a:ext cx="2007476" cy="84476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/>
                </a:solidFill>
                <a:latin typeface="Playfair Display" charset="0"/>
              </a:rPr>
              <a:t>Nidhi Gusain</a:t>
            </a:r>
          </a:p>
          <a:p>
            <a:r>
              <a:rPr lang="en-US" dirty="0" smtClean="0">
                <a:solidFill>
                  <a:schemeClr val="accent1"/>
                </a:solidFill>
                <a:latin typeface="Playfair Display" charset="0"/>
              </a:rPr>
              <a:t>Batch : MIP-DA-</a:t>
            </a:r>
            <a:r>
              <a:rPr lang="en-US" dirty="0" smtClean="0">
                <a:solidFill>
                  <a:schemeClr val="accent1"/>
                </a:solidFill>
                <a:latin typeface="Cambria Math" pitchFamily="18" charset="0"/>
                <a:ea typeface="Cambria Math" pitchFamily="18" charset="0"/>
              </a:rPr>
              <a:t>10</a:t>
            </a:r>
            <a:endParaRPr lang="en-US" dirty="0">
              <a:solidFill>
                <a:schemeClr val="accent1"/>
              </a:solidFill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quity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686</TotalTime>
  <Words>625</Words>
  <PresentationFormat>On-screen Show (16:9)</PresentationFormat>
  <Paragraphs>104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7" baseType="lpstr">
      <vt:lpstr>Arial</vt:lpstr>
      <vt:lpstr>Calibri</vt:lpstr>
      <vt:lpstr>Playfair Display</vt:lpstr>
      <vt:lpstr>Nunito</vt:lpstr>
      <vt:lpstr>Perpetua</vt:lpstr>
      <vt:lpstr>Bernard MT Condensed</vt:lpstr>
      <vt:lpstr>Comic Sans MS</vt:lpstr>
      <vt:lpstr>Arial Black</vt:lpstr>
      <vt:lpstr>Wingdings</vt:lpstr>
      <vt:lpstr>Cambria Math</vt:lpstr>
      <vt:lpstr>Wingdings 2</vt:lpstr>
      <vt:lpstr>Franklin Gothic Book</vt:lpstr>
      <vt:lpstr>Office Theme</vt:lpstr>
      <vt:lpstr>Equity</vt:lpstr>
      <vt:lpstr>1_Equity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CONCLUSION</vt:lpstr>
      <vt:lpstr>Slide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87</cp:revision>
  <dcterms:modified xsi:type="dcterms:W3CDTF">2024-06-23T15:39:43Z</dcterms:modified>
</cp:coreProperties>
</file>